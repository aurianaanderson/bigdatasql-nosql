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  <p:sldId id="266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8636" autoAdjust="0"/>
  </p:normalViewPr>
  <p:slideViewPr>
    <p:cSldViewPr snapToGrid="0">
      <p:cViewPr>
        <p:scale>
          <a:sx n="70" d="100"/>
          <a:sy n="70" d="100"/>
        </p:scale>
        <p:origin x="738" y="-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A195D-83E5-4BD5-9122-2D1382EDA833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CCB0C-2DB4-467F-91F3-F74EDB4FE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16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cs/current/tutorial-join.html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CCB0C-2DB4-467F-91F3-F74EDB4FEE1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235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EXCLUSIVE AKA ANTI JOIN</a:t>
            </a:r>
          </a:p>
          <a:p>
            <a:r>
              <a:rPr lang="en-US" dirty="0"/>
              <a:t>NATURAL JOIN – no ON condition, the query engine finds matching column names with the same data type and performs the join</a:t>
            </a:r>
          </a:p>
          <a:p>
            <a:r>
              <a:rPr lang="fr-FR" dirty="0">
                <a:hlinkClick r:id="rId3"/>
              </a:rPr>
              <a:t>PostgreSQL: Documentation: 15: 2.6. Joins </a:t>
            </a:r>
            <a:r>
              <a:rPr lang="fr-FR" dirty="0" err="1">
                <a:hlinkClick r:id="rId3"/>
              </a:rPr>
              <a:t>Between</a:t>
            </a:r>
            <a:r>
              <a:rPr lang="fr-FR" dirty="0">
                <a:hlinkClick r:id="rId3"/>
              </a:rPr>
              <a:t> Tables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CCB0C-2DB4-467F-91F3-F74EDB4FEE1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87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CCB0C-2DB4-467F-91F3-F74EDB4FEE1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820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712F0-BE4C-6A39-6E7B-06EBF438D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B9604-1F2B-C617-6AAB-C55E02946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55D09-B6B3-FACA-43EA-64D964BEF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8F42-01B9-4DF1-91DA-AE7F61520A76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5FA18-2C72-256F-3F13-0D341AFDD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85957-3C9C-FA45-69F8-05A095EAC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02782-5BC1-452F-AFBA-7D69C124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40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54773-F0AB-FA25-C4DF-652CE9BA4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BFD65-CC6A-9871-30FC-495D6AC99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47D35-F6FD-5532-E4D4-50936F50B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8F42-01B9-4DF1-91DA-AE7F61520A76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98751-F210-3816-DF80-7C27CC7A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50D35-BE4E-AB9B-CFDE-B3EA6E6F9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02782-5BC1-452F-AFBA-7D69C124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58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8FAB9-9DDA-4C1E-F6DE-5D4694EDC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EFFF0-0075-E706-9B65-FCB18FE4A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F10A5-10E9-D17E-CFB2-34CA3A0EC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8F42-01B9-4DF1-91DA-AE7F61520A76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9B7C0-2BE2-6571-155E-C50FE7B3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52628-544B-6B38-2AF3-EA62FB470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02782-5BC1-452F-AFBA-7D69C124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2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02EE2-40D2-7178-EAC9-BBF4BE11E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DA18C-6DFD-3B1D-2078-05523ABD19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2B83D-FBEB-C8F1-69DC-B92542CA3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B17EB-F04E-4E47-7F9A-938CFC599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8F42-01B9-4DF1-91DA-AE7F61520A76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23150F-6BAC-16D3-85E6-852AB2BD5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EC104-CB30-4DDD-D6CC-E02CF5BAA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02782-5BC1-452F-AFBA-7D69C124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67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C5483-3AE9-D5E1-0377-EE7CA404F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D1651-852A-E2A3-47DA-E623FDA7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799734-AA37-EA3A-0CAB-0EBB0B7F8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5A1271-5975-4091-7382-540B64B0CB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F98DCB-6179-01F0-B1A4-3CB4A47728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515794-08CC-68E4-AB70-1137D4649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8F42-01B9-4DF1-91DA-AE7F61520A76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8E1F60-6333-5AA0-273B-C601C473B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27E534-4E58-1F03-FFCE-5ED06EE76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02782-5BC1-452F-AFBA-7D69C124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6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934E5-BD8A-2F81-2A70-EFCFEFB5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42582B-29FF-CDD0-F5B1-D78C68868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8F42-01B9-4DF1-91DA-AE7F61520A76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95D799-6541-A682-12BD-ADDF52E3B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5EDD2C-A286-B769-1ADB-E5551E722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02782-5BC1-452F-AFBA-7D69C124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154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9FBAF7-895E-6D75-864A-DCD3E408F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8F42-01B9-4DF1-91DA-AE7F61520A76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A4AEF3-1748-FE48-4B9E-AE66CE701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62952-DFFC-F2DC-B7C8-36D82C91C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02782-5BC1-452F-AFBA-7D69C124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16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AC582-4AC1-AC34-A67E-B5440C1B4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8183A-A1C0-7DEC-7AAA-99E1D3A47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2F02D-716D-BD72-6F9F-60E7F5ACF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FF311-497B-CAF4-EC6B-AE1034441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8F42-01B9-4DF1-91DA-AE7F61520A76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7D47D-AAEC-48A0-33CA-CB1C1B0C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58D57-EA14-12A9-FCB6-350BD6E38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02782-5BC1-452F-AFBA-7D69C124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18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CEE8F-C582-F66A-9585-21278075D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D9A18A-810D-434D-8798-0EE18A2BC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A9098-D6D7-9A5A-8019-5BFB1AF02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2086F-E8CA-DD96-1013-45D4FF83E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8F42-01B9-4DF1-91DA-AE7F61520A76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2669D-B4F6-1091-05EE-222C12844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9D116-56BC-4AC6-0B24-D7BC9D974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02782-5BC1-452F-AFBA-7D69C124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94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377D1-3362-CCD6-A32C-6FE4F37AC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7A031E-4B63-2F0D-CB94-09290CBA8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6BA05-E1D2-B641-A309-11C2DCF13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8F42-01B9-4DF1-91DA-AE7F61520A76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1CA0C-16EE-4DD7-97C1-43C23A5D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D260B-F56D-3365-A054-A7C866CCB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02782-5BC1-452F-AFBA-7D69C124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88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499E6F-41EA-AA2C-513B-0B0C6FA7C8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BD05D5-C0CB-191D-7DCB-875E7391E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E66CB-B0F1-698C-AEA3-B71ECEE8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8F42-01B9-4DF1-91DA-AE7F61520A76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38F76-BFEF-C38E-DBB6-3B16F2607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D68B3-EAD5-BCF3-CDC4-4A1917BC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02782-5BC1-452F-AFBA-7D69C124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82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5BE052-C3C5-BFAA-2A80-F2ACAB312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945F2-F7A8-7791-C769-5D3BE3E23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A0DEF-7C68-9A94-B1C9-4D61E994BF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08F42-01B9-4DF1-91DA-AE7F61520A76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9F180-63E2-A566-84B3-D98278B984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9B821-1BD3-3D69-E1D0-952005CE8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02782-5BC1-452F-AFBA-7D69C1246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82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sql.com/blog/what-is-with-clause-sql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postgresql.org/docs/9.1/queries-with.html" TargetMode="External"/><Relationship Id="rId4" Type="http://schemas.openxmlformats.org/officeDocument/2006/relationships/hyperlink" Target="https://learnsql.com/blog/reasons-to-use-ctes/#:~:text=A%20Common%20Table%20Expression%20%28CTE%29%2C%20also%20referred%20to,referenced%20in%20the%20query%20using%20the%20assigned%20name.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ssqltips.com/sqlservertip/6659/sql-exists-vs-in-vs-join-performance-comparison/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postgresql.org/docs/current/functions-aggregate.html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cs/current/sql-createtrigger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cs/current/rules-materializedviews.html" TargetMode="External"/><Relationship Id="rId2" Type="http://schemas.openxmlformats.org/officeDocument/2006/relationships/hyperlink" Target="https://www.postgresql.org/docs/current/sql-createview.html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A7CB5-5532-43F8-2F49-DFACCA3413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04A74-2A53-9EE7-1029-09C3E71726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Advanced Retrieval Queries</a:t>
            </a:r>
          </a:p>
        </p:txBody>
      </p:sp>
    </p:spTree>
    <p:extLst>
      <p:ext uri="{BB962C8B-B14F-4D97-AF65-F5344CB8AC3E}">
        <p14:creationId xmlns:p14="http://schemas.microsoft.com/office/powerpoint/2010/main" val="3203812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2FE5-6AB5-2814-63B5-A130EAF8B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Subqueries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72C8F-26F9-0419-E860-8A70A88CB8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 query that is used within the WHERE, and FROM clauses in another query (a query within a query)</a:t>
            </a:r>
          </a:p>
          <a:p>
            <a:pPr lvl="1"/>
            <a:r>
              <a:rPr lang="en-US" dirty="0"/>
              <a:t>Useful for ‘filtering’ a table based upon query results from another table</a:t>
            </a:r>
          </a:p>
          <a:p>
            <a:r>
              <a:rPr lang="en-US" dirty="0"/>
              <a:t>Your book uses parenthesis within each of these clauses to write the sub-query</a:t>
            </a:r>
          </a:p>
          <a:p>
            <a:pPr lvl="1"/>
            <a:r>
              <a:rPr lang="en-US" dirty="0"/>
              <a:t>Can be difficult to understand in much larger queries </a:t>
            </a:r>
          </a:p>
          <a:p>
            <a:r>
              <a:rPr lang="en-US" dirty="0"/>
              <a:t>Correlated nested queries – a relationship exists between the two tables (query to the right)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71750-BCB4-0AE8-9E98-DF206646D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428999"/>
            <a:ext cx="5181600" cy="27479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E.fname</a:t>
            </a:r>
            <a:r>
              <a:rPr lang="en-US" dirty="0"/>
              <a:t>, </a:t>
            </a:r>
            <a:r>
              <a:rPr lang="en-US" dirty="0" err="1"/>
              <a:t>E.lname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employee E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E.employee_ssn</a:t>
            </a:r>
            <a:r>
              <a:rPr lang="en-US" dirty="0"/>
              <a:t> IN</a:t>
            </a:r>
          </a:p>
          <a:p>
            <a:pPr marL="0" indent="0">
              <a:buNone/>
            </a:pPr>
            <a:r>
              <a:rPr lang="en-US" dirty="0"/>
              <a:t>	(SELECT </a:t>
            </a:r>
            <a:r>
              <a:rPr lang="en-US" dirty="0" err="1"/>
              <a:t>D.employee_ssn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 FROM dependent D</a:t>
            </a:r>
          </a:p>
          <a:p>
            <a:pPr marL="0" indent="0">
              <a:buNone/>
            </a:pPr>
            <a:r>
              <a:rPr lang="en-US" dirty="0"/>
              <a:t>	 WHERE </a:t>
            </a:r>
            <a:r>
              <a:rPr lang="en-US" dirty="0" err="1"/>
              <a:t>D.gender</a:t>
            </a:r>
            <a:r>
              <a:rPr lang="en-US" dirty="0"/>
              <a:t> = “M”)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C8ADF5E6-B721-C972-F7CF-D153FDAB6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381" y="681037"/>
            <a:ext cx="623887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677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06B16-E833-8A8D-932A-D26B292D4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Table Expressions (CTEs)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53BEE-F49B-F4F5-A5F5-E7918F2DBC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hlinkClick r:id="rId3"/>
              </a:rPr>
              <a:t>What Is the WITH Clause in SQL?</a:t>
            </a:r>
            <a:endParaRPr lang="en-US" dirty="0">
              <a:hlinkClick r:id="rId4"/>
            </a:endParaRPr>
          </a:p>
          <a:p>
            <a:r>
              <a:rPr lang="en-US" dirty="0">
                <a:hlinkClick r:id="rId4"/>
              </a:rPr>
              <a:t>Link to CTE Reading</a:t>
            </a:r>
            <a:endParaRPr lang="en-US" dirty="0"/>
          </a:p>
          <a:p>
            <a:r>
              <a:rPr lang="en-US" dirty="0">
                <a:hlinkClick r:id="rId5"/>
              </a:rPr>
              <a:t>PostgreSQL: Documentation: 9.1: WITH Queries (Common Table Expressions)</a:t>
            </a:r>
            <a:endParaRPr lang="en-US" dirty="0"/>
          </a:p>
          <a:p>
            <a:r>
              <a:rPr lang="en-US" dirty="0"/>
              <a:t>AKA with() clause</a:t>
            </a:r>
          </a:p>
          <a:p>
            <a:r>
              <a:rPr lang="en-US" dirty="0"/>
              <a:t>All subqueries/temp tables are defined BEFORE the main query</a:t>
            </a:r>
          </a:p>
          <a:p>
            <a:r>
              <a:rPr lang="en-US" dirty="0"/>
              <a:t>All subqueries/temp tables are comma separated</a:t>
            </a:r>
          </a:p>
          <a:p>
            <a:r>
              <a:rPr lang="en-US" dirty="0"/>
              <a:t>Provides a neater way to write queries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AB337-5331-08D9-34C4-2C1875897F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with D as (SELECT </a:t>
            </a:r>
            <a:r>
              <a:rPr lang="en-US" dirty="0" err="1"/>
              <a:t>employee_ssn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 FROM dependent</a:t>
            </a:r>
          </a:p>
          <a:p>
            <a:pPr marL="0" indent="0">
              <a:buNone/>
            </a:pPr>
            <a:r>
              <a:rPr lang="en-US" dirty="0"/>
              <a:t>	 WHERE gender = “M”)</a:t>
            </a:r>
          </a:p>
          <a:p>
            <a:pPr marL="0" indent="0">
              <a:buNone/>
            </a:pPr>
            <a:r>
              <a:rPr lang="en-US" dirty="0"/>
              <a:t> )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e.fname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 ,</a:t>
            </a:r>
            <a:r>
              <a:rPr lang="en-US" dirty="0" err="1"/>
              <a:t>e.lname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employees E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E.employee_ssn</a:t>
            </a:r>
            <a:r>
              <a:rPr lang="en-US" dirty="0"/>
              <a:t> in D</a:t>
            </a:r>
          </a:p>
        </p:txBody>
      </p:sp>
    </p:spTree>
    <p:extLst>
      <p:ext uri="{BB962C8B-B14F-4D97-AF65-F5344CB8AC3E}">
        <p14:creationId xmlns:p14="http://schemas.microsoft.com/office/powerpoint/2010/main" val="2734752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ACC1F-13AC-3575-0727-ACC1A1DD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UNIQUE &amp; EXISTS &amp; renaming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46D14-5D1B-8AEC-A059-AAE671550B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Can be used in the WHERE clause </a:t>
            </a:r>
          </a:p>
          <a:p>
            <a:pPr lvl="1"/>
            <a:r>
              <a:rPr lang="en-US" sz="2800" dirty="0"/>
              <a:t>EXISTS can be thought of as an INNER or ANTI JOIN (multiple value comparison)</a:t>
            </a:r>
          </a:p>
          <a:p>
            <a:pPr lvl="1"/>
            <a:r>
              <a:rPr lang="en-US" sz="2800" dirty="0"/>
              <a:t>However, since EXISTS uses row-wise comparison – so it just checks if a row exists. INNER JOIN would join on DUPLICATE row-keys.</a:t>
            </a:r>
          </a:p>
          <a:p>
            <a:pPr lvl="1"/>
            <a:r>
              <a:rPr lang="en-US" sz="2800" dirty="0">
                <a:hlinkClick r:id="rId2"/>
              </a:rPr>
              <a:t>SQL EXISTS vs IN vs JOIN</a:t>
            </a:r>
            <a:endParaRPr lang="en-US" sz="2800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D9401-CDAC-6F0E-3A58-67546AACF0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with E as (SELECT * FROM EMPLOYEE),</a:t>
            </a:r>
          </a:p>
          <a:p>
            <a:pPr marL="0" indent="0">
              <a:buNone/>
            </a:pPr>
            <a:r>
              <a:rPr lang="en-US" dirty="0"/>
              <a:t>D as (</a:t>
            </a:r>
          </a:p>
          <a:p>
            <a:pPr marL="457200" lvl="1" indent="0">
              <a:buNone/>
            </a:pPr>
            <a:r>
              <a:rPr lang="en-US" dirty="0"/>
              <a:t>	SELECT *</a:t>
            </a:r>
          </a:p>
          <a:p>
            <a:pPr marL="457200" lvl="1" indent="0">
              <a:buNone/>
            </a:pPr>
            <a:r>
              <a:rPr lang="en-US" dirty="0"/>
              <a:t>	FROM dependent</a:t>
            </a:r>
          </a:p>
          <a:p>
            <a:pPr marL="457200" lvl="1" indent="0">
              <a:buNone/>
            </a:pPr>
            <a:r>
              <a:rPr lang="en-US" dirty="0"/>
              <a:t>	WHERE </a:t>
            </a:r>
            <a:r>
              <a:rPr lang="en-US" dirty="0" err="1"/>
              <a:t>essn</a:t>
            </a:r>
            <a:r>
              <a:rPr lang="en-US" dirty="0"/>
              <a:t>=</a:t>
            </a:r>
            <a:r>
              <a:rPr lang="en-US" dirty="0" err="1"/>
              <a:t>ssn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),</a:t>
            </a:r>
          </a:p>
          <a:p>
            <a:pPr marL="0" indent="0">
              <a:buNone/>
            </a:pPr>
            <a:r>
              <a:rPr lang="en-US" dirty="0"/>
              <a:t>DEPT as ( SELECT * </a:t>
            </a:r>
          </a:p>
          <a:p>
            <a:pPr marL="0" indent="0">
              <a:buNone/>
            </a:pPr>
            <a:r>
              <a:rPr lang="en-US" dirty="0"/>
              <a:t>                  FROM department</a:t>
            </a:r>
          </a:p>
          <a:p>
            <a:pPr marL="0" indent="0">
              <a:buNone/>
            </a:pPr>
            <a:r>
              <a:rPr lang="en-US" dirty="0"/>
              <a:t>                  WHERE </a:t>
            </a:r>
            <a:r>
              <a:rPr lang="en-US" dirty="0" err="1"/>
              <a:t>mgr_ssn</a:t>
            </a:r>
            <a:r>
              <a:rPr lang="en-US" dirty="0"/>
              <a:t> = </a:t>
            </a:r>
            <a:r>
              <a:rPr lang="en-US" dirty="0" err="1"/>
              <a:t>ssn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SELECT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E.fname</a:t>
            </a:r>
            <a:r>
              <a:rPr lang="en-US" dirty="0"/>
              <a:t> as </a:t>
            </a:r>
            <a:r>
              <a:rPr lang="en-US" dirty="0" err="1"/>
              <a:t>first_name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,</a:t>
            </a:r>
            <a:r>
              <a:rPr lang="en-US" dirty="0" err="1"/>
              <a:t>E.lname</a:t>
            </a:r>
            <a:r>
              <a:rPr lang="en-US" dirty="0"/>
              <a:t> as </a:t>
            </a:r>
            <a:r>
              <a:rPr lang="en-US" dirty="0" err="1"/>
              <a:t>last_name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E</a:t>
            </a:r>
          </a:p>
          <a:p>
            <a:pPr marL="0" indent="0">
              <a:buNone/>
            </a:pPr>
            <a:r>
              <a:rPr lang="en-US" dirty="0"/>
              <a:t>WHERE EXISTS D</a:t>
            </a:r>
          </a:p>
          <a:p>
            <a:pPr marL="0" indent="0">
              <a:buNone/>
            </a:pPr>
            <a:r>
              <a:rPr lang="en-US" dirty="0"/>
              <a:t>AND</a:t>
            </a:r>
          </a:p>
          <a:p>
            <a:pPr marL="0" indent="0">
              <a:buNone/>
            </a:pPr>
            <a:r>
              <a:rPr lang="en-US" dirty="0"/>
              <a:t>EXISTS DEPT</a:t>
            </a:r>
          </a:p>
        </p:txBody>
      </p:sp>
    </p:spTree>
    <p:extLst>
      <p:ext uri="{BB962C8B-B14F-4D97-AF65-F5344CB8AC3E}">
        <p14:creationId xmlns:p14="http://schemas.microsoft.com/office/powerpoint/2010/main" val="1480063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3D658-F64A-7BE8-E79A-7A1BE00D2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Joins, Aggregation, Case Statements, &amp; Recursion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FC6FF-5692-593D-33F0-658C2BAE9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350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sql joins | Sql join, Sql tutorial, Sql">
            <a:extLst>
              <a:ext uri="{FF2B5EF4-FFF2-40B4-BE49-F238E27FC236}">
                <a16:creationId xmlns:a16="http://schemas.microsoft.com/office/drawing/2014/main" id="{CAF49478-D622-DA23-6AC9-59046AB58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14" y="241466"/>
            <a:ext cx="11320171" cy="6375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693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90B9-8814-0132-F111-EFC3A98EF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BY &amp; HAVING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D43F3-096E-0AC8-0B39-5A3ADD1D4D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GROUP BY allows you to aggregate a table into summary statistics</a:t>
            </a:r>
          </a:p>
          <a:p>
            <a:pPr lvl="1"/>
            <a:r>
              <a:rPr lang="en-US" dirty="0"/>
              <a:t>GROUP BY attributes must be specified in the select statement</a:t>
            </a:r>
          </a:p>
          <a:p>
            <a:pPr lvl="1"/>
            <a:r>
              <a:rPr lang="en-US" dirty="0"/>
              <a:t>Aggregate functions can be applied to additional attributes</a:t>
            </a:r>
          </a:p>
          <a:p>
            <a:r>
              <a:rPr lang="en-US" dirty="0"/>
              <a:t>HAVING essentially returns only the groups that meet certain conditions</a:t>
            </a:r>
          </a:p>
          <a:p>
            <a:r>
              <a:rPr lang="fr-FR" dirty="0">
                <a:hlinkClick r:id="rId2"/>
              </a:rPr>
              <a:t>PostgreSQL: Documentation: 15: 9.21. </a:t>
            </a:r>
            <a:r>
              <a:rPr lang="fr-FR" dirty="0" err="1">
                <a:hlinkClick r:id="rId2"/>
              </a:rPr>
              <a:t>Aggregate</a:t>
            </a:r>
            <a:r>
              <a:rPr lang="fr-FR" dirty="0">
                <a:hlinkClick r:id="rId2"/>
              </a:rPr>
              <a:t> </a:t>
            </a:r>
            <a:r>
              <a:rPr lang="fr-FR" dirty="0" err="1">
                <a:hlinkClick r:id="rId2"/>
              </a:rPr>
              <a:t>Functions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2C95AB-ECAE-CC77-0325-FE7DFFB49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0300" y="1405731"/>
            <a:ext cx="3753378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dno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  ,COUNT(*)</a:t>
            </a:r>
          </a:p>
          <a:p>
            <a:pPr marL="0" indent="0">
              <a:buNone/>
            </a:pPr>
            <a:r>
              <a:rPr lang="en-US" dirty="0"/>
              <a:t>	  ,AVG(salary)</a:t>
            </a:r>
          </a:p>
          <a:p>
            <a:pPr marL="0" indent="0">
              <a:buNone/>
            </a:pPr>
            <a:r>
              <a:rPr lang="en-US" dirty="0"/>
              <a:t>FROM employee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dno</a:t>
            </a:r>
            <a:r>
              <a:rPr lang="en-US" dirty="0"/>
              <a:t> != 1</a:t>
            </a:r>
          </a:p>
          <a:p>
            <a:pPr marL="0" indent="0">
              <a:buNone/>
            </a:pPr>
            <a:r>
              <a:rPr lang="en-US" dirty="0"/>
              <a:t>GROUP BY </a:t>
            </a:r>
            <a:r>
              <a:rPr lang="en-US" dirty="0" err="1"/>
              <a:t>dno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HAVING AVG(salary)&gt;45000.00;</a:t>
            </a:r>
          </a:p>
        </p:txBody>
      </p:sp>
      <p:sp>
        <p:nvSpPr>
          <p:cNvPr id="5" name="AutoShape 2" descr="PostgreSQL GROUP BY">
            <a:extLst>
              <a:ext uri="{FF2B5EF4-FFF2-40B4-BE49-F238E27FC236}">
                <a16:creationId xmlns:a16="http://schemas.microsoft.com/office/drawing/2014/main" id="{76965E9E-6AD9-6621-BDFB-65197C6964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85A3E4-FCB3-D7D0-B6AD-AC450574E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4178" y="514350"/>
            <a:ext cx="1704975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945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EA194-5721-E2C0-9A2E-C575FA51B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2B5E2-2340-D694-8510-06F8E9A96A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341534" cy="4351338"/>
          </a:xfrm>
        </p:spPr>
        <p:txBody>
          <a:bodyPr/>
          <a:lstStyle/>
          <a:p>
            <a:r>
              <a:rPr lang="en-US" dirty="0"/>
              <a:t>CASE WHEN is equivalent to many modern programming languages IF ELSE statements</a:t>
            </a:r>
          </a:p>
          <a:p>
            <a:pPr lvl="1"/>
            <a:r>
              <a:rPr lang="en-US" dirty="0"/>
              <a:t>Can be used within a SELECT statement</a:t>
            </a:r>
          </a:p>
          <a:p>
            <a:pPr marL="0" indent="0">
              <a:buNone/>
            </a:pPr>
            <a:r>
              <a:rPr lang="en-US" dirty="0"/>
              <a:t>CASE WHEN &lt;condition 1&gt; THEN &lt;value&gt;</a:t>
            </a:r>
          </a:p>
          <a:p>
            <a:pPr marL="0" indent="0">
              <a:buNone/>
            </a:pPr>
            <a:r>
              <a:rPr lang="en-US" dirty="0"/>
              <a:t>	WHEN &lt;condition 2&gt; THEN &lt;value&gt;</a:t>
            </a:r>
          </a:p>
          <a:p>
            <a:pPr marL="0" indent="0">
              <a:buNone/>
            </a:pPr>
            <a:r>
              <a:rPr lang="en-US" dirty="0"/>
              <a:t>	ELSE &lt;value&gt;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A8F55B-A55A-B0A9-7C22-497BC53DCE58}"/>
              </a:ext>
            </a:extLst>
          </p:cNvPr>
          <p:cNvSpPr txBox="1"/>
          <p:nvPr/>
        </p:nvSpPr>
        <p:spPr>
          <a:xfrm>
            <a:off x="7179734" y="2791354"/>
            <a:ext cx="45211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employee</a:t>
            </a:r>
          </a:p>
          <a:p>
            <a:r>
              <a:rPr lang="en-US" dirty="0"/>
              <a:t>SET salary = </a:t>
            </a:r>
          </a:p>
          <a:p>
            <a:r>
              <a:rPr lang="en-US" dirty="0"/>
              <a:t>CASE 	WHEN </a:t>
            </a:r>
            <a:r>
              <a:rPr lang="en-US" dirty="0" err="1"/>
              <a:t>dno</a:t>
            </a:r>
            <a:r>
              <a:rPr lang="en-US" dirty="0"/>
              <a:t>=5 THEN salary + 2000</a:t>
            </a:r>
          </a:p>
          <a:p>
            <a:r>
              <a:rPr lang="en-US" dirty="0"/>
              <a:t>	WHEN </a:t>
            </a:r>
            <a:r>
              <a:rPr lang="en-US" dirty="0" err="1"/>
              <a:t>dno</a:t>
            </a:r>
            <a:r>
              <a:rPr lang="en-US" dirty="0"/>
              <a:t>=4 THEN salary + 1500</a:t>
            </a:r>
          </a:p>
          <a:p>
            <a:r>
              <a:rPr lang="en-US" dirty="0"/>
              <a:t>	WHEN </a:t>
            </a:r>
            <a:r>
              <a:rPr lang="en-US" dirty="0" err="1"/>
              <a:t>dno</a:t>
            </a:r>
            <a:r>
              <a:rPr lang="en-US" dirty="0"/>
              <a:t>=1 THEN salary + 3000</a:t>
            </a:r>
          </a:p>
          <a:p>
            <a:r>
              <a:rPr lang="en-US" dirty="0"/>
              <a:t>	ELSE salary + 0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227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EC54E-E07D-9DFE-5472-A8725FA9F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Queries (CTE)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CB1FB-1374-78E9-905E-EADE780ED5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Helpful in many circumstances such as for querying hierarchical data like organizational structure, tracking lineage, etc.</a:t>
            </a:r>
          </a:p>
          <a:p>
            <a:r>
              <a:rPr lang="en-US" dirty="0"/>
              <a:t>Used in a with() CTE. </a:t>
            </a:r>
          </a:p>
          <a:p>
            <a:r>
              <a:rPr lang="en-US" dirty="0"/>
              <a:t>An example would be querying an employee table with manager and subordinates (see week 4 examples)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81EC2-1B28-8964-09B8-C35625A84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78273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WITH RECURSIVE &lt;alias&gt; as (</a:t>
            </a:r>
          </a:p>
          <a:p>
            <a:pPr marL="0" indent="0">
              <a:buNone/>
            </a:pPr>
            <a:r>
              <a:rPr lang="en-US" dirty="0"/>
              <a:t>&lt;non-recursive query&gt;</a:t>
            </a:r>
          </a:p>
          <a:p>
            <a:pPr marL="0" indent="0">
              <a:buNone/>
            </a:pPr>
            <a:r>
              <a:rPr lang="en-US" dirty="0"/>
              <a:t>&lt;statement that connects recursive query (union)&gt;</a:t>
            </a:r>
          </a:p>
          <a:p>
            <a:pPr marL="0" indent="0">
              <a:buNone/>
            </a:pPr>
            <a:r>
              <a:rPr lang="en-US" dirty="0"/>
              <a:t>&lt;recursive query&gt;</a:t>
            </a:r>
          </a:p>
          <a:p>
            <a:pPr marL="0" indent="0">
              <a:buNone/>
            </a:pP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&lt;statement that invokes recursion&gt;</a:t>
            </a:r>
          </a:p>
          <a:p>
            <a:pPr marL="0" indent="0">
              <a:buNone/>
            </a:pPr>
            <a:r>
              <a:rPr lang="en-US" dirty="0"/>
              <a:t>SELECT * FROM &lt;alias&gt;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175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028E-00E5-613B-D205-31034B83F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Assertion, Triggers, &amp; 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CAB8-08B2-507E-E12F-380ED9F5D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45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6339F-7BF4-0810-618E-F671048BE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9BF73-4EF9-5644-F766-4E853979E2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data integrity constraint that can be used to ensure a specific condition cannot happen within a table</a:t>
            </a:r>
          </a:p>
          <a:p>
            <a:r>
              <a:rPr lang="en-US" dirty="0"/>
              <a:t>Example: employee salary cannot be greater than manager salary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B18879-6598-618D-E3CE-4D2DF0F32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1825625"/>
            <a:ext cx="621453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CREATE ASSERTION </a:t>
            </a:r>
            <a:r>
              <a:rPr lang="en-US" dirty="0" err="1"/>
              <a:t>salary_constraint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CHECK (NOT EXISTS ( </a:t>
            </a:r>
          </a:p>
          <a:p>
            <a:pPr marL="0" indent="0">
              <a:buNone/>
            </a:pPr>
            <a:r>
              <a:rPr lang="en-US" dirty="0"/>
              <a:t>	SELECT *</a:t>
            </a:r>
          </a:p>
          <a:p>
            <a:pPr marL="0" indent="0">
              <a:buNone/>
            </a:pPr>
            <a:r>
              <a:rPr lang="en-US" dirty="0"/>
              <a:t>	FROM EMPLOYEE E, EMPLOYEE M, DEPARTMENT D</a:t>
            </a:r>
          </a:p>
          <a:p>
            <a:pPr marL="0" indent="0">
              <a:buNone/>
            </a:pPr>
            <a:r>
              <a:rPr lang="en-US" dirty="0"/>
              <a:t>	WHERE </a:t>
            </a:r>
            <a:r>
              <a:rPr lang="en-US" dirty="0" err="1"/>
              <a:t>E.salary</a:t>
            </a:r>
            <a:r>
              <a:rPr lang="en-US" dirty="0"/>
              <a:t> &gt;</a:t>
            </a:r>
            <a:r>
              <a:rPr lang="en-US" dirty="0" err="1"/>
              <a:t>M.salary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AND </a:t>
            </a:r>
            <a:r>
              <a:rPr lang="en-US" dirty="0" err="1"/>
              <a:t>E.dno</a:t>
            </a:r>
            <a:r>
              <a:rPr lang="en-US" dirty="0"/>
              <a:t>=</a:t>
            </a:r>
            <a:r>
              <a:rPr lang="en-US" dirty="0" err="1"/>
              <a:t>D.dnumber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AND </a:t>
            </a:r>
            <a:r>
              <a:rPr lang="en-US" dirty="0" err="1"/>
              <a:t>D.mgr_ssn</a:t>
            </a:r>
            <a:r>
              <a:rPr lang="en-US" dirty="0"/>
              <a:t>=</a:t>
            </a:r>
            <a:r>
              <a:rPr lang="en-US" dirty="0" err="1"/>
              <a:t>M.ssn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239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C5319-CFA4-9FC5-7C2B-FEDE1C803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5E2DE-9E12-B60D-3825-A31BC9890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8600" y="1586442"/>
            <a:ext cx="4936067" cy="527155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Takes action when a specified event occurs in the DB</a:t>
            </a:r>
          </a:p>
          <a:p>
            <a:r>
              <a:rPr lang="en-US" dirty="0"/>
              <a:t>Event </a:t>
            </a:r>
          </a:p>
          <a:p>
            <a:pPr lvl="1"/>
            <a:r>
              <a:rPr lang="en-US" dirty="0"/>
              <a:t>The operations that are monitored for each condition</a:t>
            </a:r>
          </a:p>
          <a:p>
            <a:r>
              <a:rPr lang="en-US" dirty="0"/>
              <a:t>Condition</a:t>
            </a:r>
          </a:p>
          <a:p>
            <a:pPr lvl="1"/>
            <a:r>
              <a:rPr lang="en-US" dirty="0"/>
              <a:t>Used to monitor the DB</a:t>
            </a:r>
          </a:p>
          <a:p>
            <a:r>
              <a:rPr lang="en-US" dirty="0"/>
              <a:t>Action </a:t>
            </a:r>
          </a:p>
          <a:p>
            <a:pPr lvl="1"/>
            <a:r>
              <a:rPr lang="en-US" dirty="0"/>
              <a:t>Action that occurs when the condition is met, typically a SQL statement</a:t>
            </a:r>
          </a:p>
          <a:p>
            <a:r>
              <a:rPr lang="it-IT" dirty="0">
                <a:hlinkClick r:id="rId3"/>
              </a:rPr>
              <a:t>PostgreSQL: Documentation: 15: CREATE TRIGGER</a:t>
            </a:r>
            <a:endParaRPr lang="en-US" dirty="0"/>
          </a:p>
        </p:txBody>
      </p:sp>
      <p:pic>
        <p:nvPicPr>
          <p:cNvPr id="3074" name="Picture 2" descr="Oracle Database and Oracle Applications: Oracle PL/SQL Trigger Tutorial ...">
            <a:extLst>
              <a:ext uri="{FF2B5EF4-FFF2-40B4-BE49-F238E27FC236}">
                <a16:creationId xmlns:a16="http://schemas.microsoft.com/office/drawing/2014/main" id="{2B37F30A-89F6-5B9E-27F8-E699D76D6A6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3156" y="1690688"/>
            <a:ext cx="7238660" cy="4100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3427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F85B0-FBFF-DD07-FEB9-66E145C27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D8480-8FB7-61CB-4E2A-E5EC1A23AC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81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“Views” of a query that are not materialized</a:t>
            </a:r>
          </a:p>
          <a:p>
            <a:pPr lvl="1"/>
            <a:r>
              <a:rPr lang="en-US" dirty="0"/>
              <a:t>When you access the view the query is executed. </a:t>
            </a:r>
          </a:p>
          <a:p>
            <a:r>
              <a:rPr lang="en-US" dirty="0"/>
              <a:t>Materialized view: These are created when the results of the query are stored in a DB</a:t>
            </a:r>
          </a:p>
          <a:p>
            <a:r>
              <a:rPr lang="en-US" dirty="0"/>
              <a:t>Views are most commonly used to present results of analytics queries to stakeholders</a:t>
            </a:r>
          </a:p>
          <a:p>
            <a:r>
              <a:rPr lang="en-US" dirty="0">
                <a:hlinkClick r:id="rId2"/>
              </a:rPr>
              <a:t>PostgreSQL: Documentation: 15: CREATE VIEW</a:t>
            </a:r>
            <a:endParaRPr lang="en-US" dirty="0"/>
          </a:p>
          <a:p>
            <a:r>
              <a:rPr lang="en-US" dirty="0">
                <a:hlinkClick r:id="rId3"/>
              </a:rPr>
              <a:t>PostgreSQL: Documentation: 15: 41.3. Materialized Views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30730-2E2E-E987-86CF-0D27E99A50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CREATE VIEW AS &lt;query&gt;</a:t>
            </a:r>
          </a:p>
          <a:p>
            <a:pPr marL="0" indent="0">
              <a:buNone/>
            </a:pPr>
            <a:r>
              <a:rPr lang="en-US" dirty="0"/>
              <a:t>CREATE MATERIALIZED VIEW AS &lt;QUERY&gt;</a:t>
            </a:r>
          </a:p>
        </p:txBody>
      </p:sp>
    </p:spTree>
    <p:extLst>
      <p:ext uri="{BB962C8B-B14F-4D97-AF65-F5344CB8AC3E}">
        <p14:creationId xmlns:p14="http://schemas.microsoft.com/office/powerpoint/2010/main" val="3673212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872</Words>
  <Application>Microsoft Office PowerPoint</Application>
  <PresentationFormat>Widescreen</PresentationFormat>
  <Paragraphs>123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Week 4</vt:lpstr>
      <vt:lpstr>Subqueries </vt:lpstr>
      <vt:lpstr>Common Table Expressions (CTEs)</vt:lpstr>
      <vt:lpstr>UNIQUE &amp; EXISTS &amp; renaming</vt:lpstr>
      <vt:lpstr>Joins, Aggregation, Case Statements, &amp; Recursion</vt:lpstr>
      <vt:lpstr>PowerPoint Presentation</vt:lpstr>
      <vt:lpstr>GROUP BY &amp; HAVING</vt:lpstr>
      <vt:lpstr>Case Statements</vt:lpstr>
      <vt:lpstr>Recursive Queries (CTE)</vt:lpstr>
      <vt:lpstr>Assertion, Triggers, &amp; Views</vt:lpstr>
      <vt:lpstr>Assertion</vt:lpstr>
      <vt:lpstr>Triggers</vt:lpstr>
      <vt:lpstr>Views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</dc:title>
  <dc:creator>Jeremiah Lowhorn</dc:creator>
  <cp:lastModifiedBy>Jeremiah Lowhorn</cp:lastModifiedBy>
  <cp:revision>6</cp:revision>
  <dcterms:created xsi:type="dcterms:W3CDTF">2023-07-01T15:40:49Z</dcterms:created>
  <dcterms:modified xsi:type="dcterms:W3CDTF">2023-07-01T21:48:57Z</dcterms:modified>
</cp:coreProperties>
</file>